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0" r:id="rId3"/>
    <p:sldId id="285" r:id="rId4"/>
    <p:sldId id="264" r:id="rId5"/>
    <p:sldId id="262" r:id="rId6"/>
    <p:sldId id="277" r:id="rId7"/>
    <p:sldId id="273" r:id="rId8"/>
    <p:sldId id="284" r:id="rId9"/>
    <p:sldId id="309" r:id="rId10"/>
    <p:sldId id="274" r:id="rId11"/>
    <p:sldId id="299" r:id="rId12"/>
    <p:sldId id="306" r:id="rId13"/>
    <p:sldId id="303" r:id="rId14"/>
    <p:sldId id="301" r:id="rId15"/>
    <p:sldId id="30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33" userDrawn="1">
          <p15:clr>
            <a:srgbClr val="A4A3A4"/>
          </p15:clr>
        </p15:guide>
        <p15:guide id="2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7346"/>
    <a:srgbClr val="21A366"/>
    <a:srgbClr val="185C37"/>
    <a:srgbClr val="D8EBCD"/>
    <a:srgbClr val="F5F5F5"/>
    <a:srgbClr val="107C41"/>
    <a:srgbClr val="33C481"/>
    <a:srgbClr val="F5F5FF"/>
    <a:srgbClr val="ECECEC"/>
    <a:srgbClr val="DC4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6" y="318"/>
      </p:cViewPr>
      <p:guideLst>
        <p:guide orient="horz" pos="4133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00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10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03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31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914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98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08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36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42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43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22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11039302" y="-5"/>
            <a:ext cx="328711" cy="6858000"/>
          </a:xfrm>
          <a:prstGeom prst="rect">
            <a:avLst/>
          </a:prstGeom>
          <a:solidFill>
            <a:srgbClr val="33C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11368013" y="0"/>
            <a:ext cx="499171" cy="6858001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 userDrawn="1"/>
        </p:nvSpPr>
        <p:spPr>
          <a:xfrm>
            <a:off x="11834076" y="-1"/>
            <a:ext cx="365577" cy="6858001"/>
          </a:xfrm>
          <a:prstGeom prst="rect">
            <a:avLst/>
          </a:pr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72" y="373855"/>
            <a:ext cx="894892" cy="854054"/>
          </a:xfrm>
          <a:prstGeom prst="rect">
            <a:avLst/>
          </a:prstGeom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FA6AE-887D-4CF2-87D2-BDB19D9092A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D27B0-F682-4973-9BAD-04B3450ADB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68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planilhasrj@gmail.com" TargetMode="External"/><Relationship Id="rId2" Type="http://schemas.openxmlformats.org/officeDocument/2006/relationships/hyperlink" Target="https://www.linkedin.com/in/romulo-sousa-570739110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j.senac.br/sobre-o-senac/emissao-de-certificados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pt-br/excel?ui=pt-br&amp;rs=pt-br&amp;ad=br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primeiroacesso.rj.senac.br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imeiroacesso.rj.senac.br/" TargetMode="External"/><Relationship Id="rId7" Type="http://schemas.openxmlformats.org/officeDocument/2006/relationships/image" Target="../media/image19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.google.com/mail/?view=cm&amp;fs=1&amp;to=sabrina.sousa%40rj.senac.br&amp;authuser=0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02" y="256530"/>
            <a:ext cx="842211" cy="84221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156693" y="555375"/>
            <a:ext cx="4235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Curso de EXCEL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88"/>
          <a:stretch/>
        </p:blipFill>
        <p:spPr>
          <a:xfrm>
            <a:off x="8610600" y="2753781"/>
            <a:ext cx="3578421" cy="2496198"/>
          </a:xfrm>
          <a:prstGeom prst="rect">
            <a:avLst/>
          </a:prstGeom>
        </p:spPr>
      </p:pic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733306"/>
              </p:ext>
            </p:extLst>
          </p:nvPr>
        </p:nvGraphicFramePr>
        <p:xfrm>
          <a:off x="232502" y="3004685"/>
          <a:ext cx="7852870" cy="19776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3698">
                  <a:extLst>
                    <a:ext uri="{9D8B030D-6E8A-4147-A177-3AD203B41FA5}">
                      <a16:colId xmlns:a16="http://schemas.microsoft.com/office/drawing/2014/main" val="2051667095"/>
                    </a:ext>
                  </a:extLst>
                </a:gridCol>
                <a:gridCol w="293914">
                  <a:extLst>
                    <a:ext uri="{9D8B030D-6E8A-4147-A177-3AD203B41FA5}">
                      <a16:colId xmlns:a16="http://schemas.microsoft.com/office/drawing/2014/main" val="3919744536"/>
                    </a:ext>
                  </a:extLst>
                </a:gridCol>
                <a:gridCol w="653304">
                  <a:extLst>
                    <a:ext uri="{9D8B030D-6E8A-4147-A177-3AD203B41FA5}">
                      <a16:colId xmlns:a16="http://schemas.microsoft.com/office/drawing/2014/main" val="3075459670"/>
                    </a:ext>
                  </a:extLst>
                </a:gridCol>
                <a:gridCol w="3251954">
                  <a:extLst>
                    <a:ext uri="{9D8B030D-6E8A-4147-A177-3AD203B41FA5}">
                      <a16:colId xmlns:a16="http://schemas.microsoft.com/office/drawing/2014/main" val="391741433"/>
                    </a:ext>
                  </a:extLst>
                </a:gridCol>
              </a:tblGrid>
              <a:tr h="81801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chemeClr val="tx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Apresentação do Curso</a:t>
                      </a:r>
                      <a:endParaRPr lang="pt-BR" sz="240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40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091200"/>
                  </a:ext>
                </a:extLst>
              </a:tr>
              <a:tr h="579819">
                <a:tc gridSpan="2">
                  <a:txBody>
                    <a:bodyPr/>
                    <a:lstStyle/>
                    <a:p>
                      <a:r>
                        <a:rPr lang="pt-BR" sz="2400" b="1" kern="1200" dirty="0">
                          <a:solidFill>
                            <a:schemeClr val="tx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Cronograma das aulas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Processo de Avaliação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21577"/>
                  </a:ext>
                </a:extLst>
              </a:tr>
              <a:tr h="579819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Portal SENAC do Aluno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pt-BR" sz="240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2400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142245"/>
                  </a:ext>
                </a:extLst>
              </a:tr>
            </a:tbl>
          </a:graphicData>
        </a:graphic>
      </p:graphicFrame>
      <p:sp>
        <p:nvSpPr>
          <p:cNvPr id="18" name="CaixaDeTexto 17"/>
          <p:cNvSpPr txBox="1"/>
          <p:nvPr/>
        </p:nvSpPr>
        <p:spPr>
          <a:xfrm>
            <a:off x="1162851" y="330961"/>
            <a:ext cx="4235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Microsoft Office Excel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5513" y="3579311"/>
            <a:ext cx="227970" cy="45517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8F13907-83C9-C292-99B9-F820BB4564CF}"/>
              </a:ext>
            </a:extLst>
          </p:cNvPr>
          <p:cNvSpPr txBox="1"/>
          <p:nvPr/>
        </p:nvSpPr>
        <p:spPr>
          <a:xfrm>
            <a:off x="1156693" y="1156572"/>
            <a:ext cx="4235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Apresentação</a:t>
            </a:r>
          </a:p>
        </p:txBody>
      </p:sp>
      <p:pic>
        <p:nvPicPr>
          <p:cNvPr id="3" name="Imagem 7">
            <a:extLst>
              <a:ext uri="{FF2B5EF4-FFF2-40B4-BE49-F238E27FC236}">
                <a16:creationId xmlns:a16="http://schemas.microsoft.com/office/drawing/2014/main" id="{2B5AF3BC-3FAA-0B9D-609F-D6EFF615F3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2751" y="3553055"/>
            <a:ext cx="434470" cy="254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08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Apresentação do Instrutor</a:t>
            </a:r>
          </a:p>
        </p:txBody>
      </p:sp>
      <p:sp>
        <p:nvSpPr>
          <p:cNvPr id="4" name="CaixaDeTexto 17">
            <a:extLst>
              <a:ext uri="{FF2B5EF4-FFF2-40B4-BE49-F238E27FC236}">
                <a16:creationId xmlns:a16="http://schemas.microsoft.com/office/drawing/2014/main" id="{7718C93B-4772-A39B-91A6-226FF860607D}"/>
              </a:ext>
            </a:extLst>
          </p:cNvPr>
          <p:cNvSpPr txBox="1"/>
          <p:nvPr/>
        </p:nvSpPr>
        <p:spPr>
          <a:xfrm>
            <a:off x="691376" y="1240263"/>
            <a:ext cx="10020172" cy="520909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Rômulo Sousa</a:t>
            </a:r>
          </a:p>
          <a:p>
            <a:pPr algn="ctr"/>
            <a:endParaRPr lang="pt-BR"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Quem sou</a:t>
            </a:r>
          </a:p>
          <a:p>
            <a:pPr algn="ctr"/>
            <a: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https://www.linkedin.com/in/romulo-sousa-570739110/</a:t>
            </a:r>
            <a:endParaRPr lang="pt-BR" sz="2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2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Contato</a:t>
            </a:r>
          </a:p>
          <a:p>
            <a:pPr algn="ctr"/>
            <a: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eplanilhasrj@gmail.com</a:t>
            </a:r>
            <a:endParaRPr lang="pt-BR" sz="2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2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Material para as aulas</a:t>
            </a:r>
          </a:p>
          <a:p>
            <a:pPr algn="ctr"/>
            <a: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Publicado no Campus Digital Senac</a:t>
            </a:r>
            <a:b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https://primeiroacesso.rj.senac.br/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106E78-35B8-D9C1-447B-0460742D331C}"/>
              </a:ext>
            </a:extLst>
          </p:cNvPr>
          <p:cNvSpPr txBox="1"/>
          <p:nvPr/>
        </p:nvSpPr>
        <p:spPr>
          <a:xfrm>
            <a:off x="10711548" y="5675159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dirty="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070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Sobre o Conteúdo e Material das Aulas</a:t>
            </a:r>
          </a:p>
        </p:txBody>
      </p:sp>
      <p:sp>
        <p:nvSpPr>
          <p:cNvPr id="2" name="CaixaDeTexto 25">
            <a:extLst>
              <a:ext uri="{FF2B5EF4-FFF2-40B4-BE49-F238E27FC236}">
                <a16:creationId xmlns:a16="http://schemas.microsoft.com/office/drawing/2014/main" id="{BE4E1CC0-1091-7E55-A13E-F47EC2249D8A}"/>
              </a:ext>
            </a:extLst>
          </p:cNvPr>
          <p:cNvSpPr txBox="1"/>
          <p:nvPr/>
        </p:nvSpPr>
        <p:spPr>
          <a:xfrm>
            <a:off x="680224" y="1427357"/>
            <a:ext cx="10031323" cy="3124656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O material de desenvolvimento será disponibilizado no site e nele constará arquivo PDF dos temas abordados em cada encontro, planilha de desenvolvimento de conhecimento e planilhas de atividades planejadas. Em referência as atividades planejadas serão resolvidas em casa e devolvidas para correção para o de e-mail </a:t>
            </a:r>
            <a:r>
              <a:rPr lang="pt-BR" sz="2000">
                <a:latin typeface="Segoe UI" panose="020B0502040204020203" pitchFamily="34" charset="0"/>
                <a:cs typeface="Segoe UI" panose="020B0502040204020203" pitchFamily="34" charset="0"/>
              </a:rPr>
              <a:t>do instrutor.</a:t>
            </a:r>
            <a:endParaRPr lang="pt-B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2DD2BD-9D9B-540A-C57D-70BA9F0A817A}"/>
              </a:ext>
            </a:extLst>
          </p:cNvPr>
          <p:cNvSpPr txBox="1"/>
          <p:nvPr/>
        </p:nvSpPr>
        <p:spPr>
          <a:xfrm>
            <a:off x="10711548" y="5675159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dirty="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8334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Apresentação do Curso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10711548" y="5675159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dirty="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rPr>
              <a:t>4</a:t>
            </a:r>
          </a:p>
        </p:txBody>
      </p:sp>
      <p:sp>
        <p:nvSpPr>
          <p:cNvPr id="4" name="CaixaDeTexto 17">
            <a:extLst>
              <a:ext uri="{FF2B5EF4-FFF2-40B4-BE49-F238E27FC236}">
                <a16:creationId xmlns:a16="http://schemas.microsoft.com/office/drawing/2014/main" id="{7718C93B-4772-A39B-91A6-226FF860607D}"/>
              </a:ext>
            </a:extLst>
          </p:cNvPr>
          <p:cNvSpPr txBox="1"/>
          <p:nvPr/>
        </p:nvSpPr>
        <p:spPr>
          <a:xfrm>
            <a:off x="691376" y="1240263"/>
            <a:ext cx="10020172" cy="522720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 do Curso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Este curso tem como objetivo permitir que os participantes tenham conhecimento necessário para elaborar planilhas com recursos de formatação e cálculos, conseguindo processar um considerável volume de dados. É destinado a estudantes e profissionais de quaisquer áreas, que necessitam elaborar planilhas formatadas com fórmulas.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Indicador do Curso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 planilhas utilizando fórmulas e recursos de formatação do Microsoft Excel.</a:t>
            </a: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0711548" y="5675163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dirty="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rPr>
              <a:t>5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156692" y="430304"/>
            <a:ext cx="9346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Conhecimentos do curso</a:t>
            </a:r>
          </a:p>
        </p:txBody>
      </p:sp>
      <p:sp>
        <p:nvSpPr>
          <p:cNvPr id="2" name="CaixaDeTexto 17">
            <a:extLst>
              <a:ext uri="{FF2B5EF4-FFF2-40B4-BE49-F238E27FC236}">
                <a16:creationId xmlns:a16="http://schemas.microsoft.com/office/drawing/2014/main" id="{1AD5DDB1-0840-82FF-F0D3-03DCC9E10B7B}"/>
              </a:ext>
            </a:extLst>
          </p:cNvPr>
          <p:cNvSpPr txBox="1"/>
          <p:nvPr/>
        </p:nvSpPr>
        <p:spPr>
          <a:xfrm>
            <a:off x="646770" y="888521"/>
            <a:ext cx="10064777" cy="583566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Apresentação do layout do software.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Modo de exibição.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Inserção, edição, exclusão e formatação de células (colunas e linhas) e planilhas.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Gerenciamento das guias de planilhas.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Tipos de referências: relativa, absoluta e mista.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Fórmulas e funções: conceitos e aplicação: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	Funções matemáticas e trigonométricas: SOMA e MULT.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Funções data e hora: HOJE e AGORA.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Funções estatísticas: MÉDIA, MÁXIMO, MÍNIMO, MENOR, MAIOR, CONT.VALORES, 	CONT.NUM, CONTAR.VAZIO, CONT.SE, SOMASE, MÉDIASE.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	Função lógica: 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Formatação: números, alinhamento, fonte, borda e preenchimento de células.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Estilos de células.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Formatar como Tabela.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Classificar e filtrar dados.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Formatação condicional simples.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Remover duplicatas.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Recursos de imagem autoformas.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Elaboração e gerenciamento de gráficos.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Congelamento de painéis.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Cabeçalho e rodapé.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Configuração e visualização de impressão de planilhas.</a:t>
            </a:r>
          </a:p>
        </p:txBody>
      </p:sp>
    </p:spTree>
    <p:extLst>
      <p:ext uri="{BB962C8B-B14F-4D97-AF65-F5344CB8AC3E}">
        <p14:creationId xmlns:p14="http://schemas.microsoft.com/office/powerpoint/2010/main" val="362285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Habilidades do curso</a:t>
            </a:r>
          </a:p>
        </p:txBody>
      </p:sp>
      <p:sp>
        <p:nvSpPr>
          <p:cNvPr id="16" name="CaixaDeTexto 17"/>
          <p:cNvSpPr txBox="1"/>
          <p:nvPr/>
        </p:nvSpPr>
        <p:spPr>
          <a:xfrm>
            <a:off x="646770" y="1296127"/>
            <a:ext cx="10064777" cy="490872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Operar planilhas utilizando fórmulas e funções e aplicando recursos de formatação.</a:t>
            </a:r>
          </a:p>
          <a:p>
            <a:pPr algn="ctr"/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Elaborar gráficos utilizando planilhas como fonte de dados.</a:t>
            </a:r>
          </a:p>
          <a:p>
            <a:pPr algn="ctr"/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pt-BR" sz="1800" b="1" dirty="0">
                <a:solidFill>
                  <a:schemeClr val="tx1"/>
                </a:solidFill>
              </a:rPr>
              <a:t>Atitudes/Valores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</a:rPr>
              <a:t>(</a:t>
            </a:r>
            <a:r>
              <a:rPr lang="pt-BR" sz="1800" b="0" u="sng" dirty="0">
                <a:solidFill>
                  <a:schemeClr val="tx1"/>
                </a:solidFill>
              </a:rPr>
              <a:t>Marcas Formativa Senac</a:t>
            </a:r>
            <a:r>
              <a:rPr lang="pt-BR" sz="1800" b="0" dirty="0">
                <a:solidFill>
                  <a:schemeClr val="tx1"/>
                </a:solidFill>
              </a:rPr>
              <a:t>)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Propor novas soluções no desenvolvimento do trabalho.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Responsabilidade no cumprimento das normas de segurança da informação.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Responsabilidade no uso dos dados (ética).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Colaboração no desenvolvimento do trabalho em equipe.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Senso crítico diante do processo de trabalho e às necessidades e especificidades do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usuário.</a:t>
            </a:r>
          </a:p>
          <a:p>
            <a:pPr marL="0" indent="0" algn="ctr">
              <a:buNone/>
            </a:pPr>
            <a:r>
              <a:rPr lang="pt-BR" sz="18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Comprometimento com o desenvolvimento das atividades profissionais.</a:t>
            </a:r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10711548" y="5675160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700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defRPr>
            </a:lvl1pPr>
          </a:lstStyle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494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2" y="408643"/>
            <a:ext cx="9110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Cronograma das Aulas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10711548" y="5686311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700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defRPr>
            </a:lvl1pPr>
          </a:lstStyle>
          <a:p>
            <a:r>
              <a:rPr lang="pt-BR" dirty="0"/>
              <a:t>7</a:t>
            </a:r>
          </a:p>
        </p:txBody>
      </p:sp>
      <p:sp>
        <p:nvSpPr>
          <p:cNvPr id="2" name="CaixaDeTexto 17">
            <a:extLst>
              <a:ext uri="{FF2B5EF4-FFF2-40B4-BE49-F238E27FC236}">
                <a16:creationId xmlns:a16="http://schemas.microsoft.com/office/drawing/2014/main" id="{3656ADBD-0226-BC16-3CB0-4225A9CEB7CA}"/>
              </a:ext>
            </a:extLst>
          </p:cNvPr>
          <p:cNvSpPr txBox="1"/>
          <p:nvPr/>
        </p:nvSpPr>
        <p:spPr>
          <a:xfrm>
            <a:off x="376504" y="621375"/>
            <a:ext cx="10604921" cy="551749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pt-BR"/>
            </a:defPPr>
            <a:lvl1pPr indent="0" algn="ctr"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pt-BR" dirty="0"/>
              <a:t>São 7 aulas, segunda, quarta e sexta, </a:t>
            </a:r>
          </a:p>
          <a:p>
            <a:r>
              <a:rPr lang="pt-BR" dirty="0"/>
              <a:t>com duração de 4h, com início às 18h até 22h </a:t>
            </a:r>
          </a:p>
          <a:p>
            <a:r>
              <a:rPr lang="pt-BR" dirty="0"/>
              <a:t>e tendo 20min de intervalo.</a:t>
            </a:r>
          </a:p>
          <a:p>
            <a:r>
              <a:rPr lang="pt-BR" sz="1400" b="1" dirty="0">
                <a:solidFill>
                  <a:schemeClr val="tx1"/>
                </a:solidFill>
              </a:rPr>
              <a:t>(Conforme orientação da Gerência da unidade Botafogo,</a:t>
            </a:r>
            <a:br>
              <a:rPr lang="pt-BR" sz="1400" b="1" dirty="0">
                <a:solidFill>
                  <a:schemeClr val="tx1"/>
                </a:solidFill>
              </a:rPr>
            </a:br>
            <a:r>
              <a:rPr lang="pt-BR" sz="1400" b="1" dirty="0">
                <a:solidFill>
                  <a:schemeClr val="tx1"/>
                </a:solidFill>
              </a:rPr>
              <a:t>no período na noite a portaria encerra</a:t>
            </a:r>
          </a:p>
          <a:p>
            <a:r>
              <a:rPr lang="pt-BR" sz="1400" b="1" dirty="0">
                <a:solidFill>
                  <a:schemeClr val="tx1"/>
                </a:solidFill>
              </a:rPr>
              <a:t>o acesso de entrada às 20:30h)</a:t>
            </a:r>
          </a:p>
          <a:p>
            <a:endParaRPr lang="pt-BR" dirty="0"/>
          </a:p>
          <a:p>
            <a:r>
              <a:rPr lang="pt-BR" b="1" dirty="0"/>
              <a:t>Dias das aulas são:</a:t>
            </a:r>
          </a:p>
          <a:p>
            <a:r>
              <a:rPr lang="pt-BR" b="0" i="0" dirty="0">
                <a:solidFill>
                  <a:srgbClr val="626B77"/>
                </a:solidFill>
                <a:effectLst/>
                <a:latin typeface="Lato" panose="020F0502020204030203" pitchFamily="34" charset="0"/>
              </a:rPr>
              <a:t>20/05/2025, 22/05/2025, 27/05/2025, 29/05/2025,</a:t>
            </a:r>
          </a:p>
          <a:p>
            <a:r>
              <a:rPr lang="pt-BR" b="0" i="0" dirty="0">
                <a:solidFill>
                  <a:srgbClr val="626B77"/>
                </a:solidFill>
                <a:effectLst/>
                <a:latin typeface="Lato" panose="020F0502020204030203" pitchFamily="34" charset="0"/>
              </a:rPr>
              <a:t> 03/06/2025, 05/06/2025 e 10/06/2025.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IMPORTANTE</a:t>
            </a:r>
            <a:br>
              <a:rPr lang="pt-BR" dirty="0"/>
            </a:br>
            <a:r>
              <a:rPr lang="pt-BR" b="1" dirty="0"/>
              <a:t>Sempre observar o número da sala de aula na lista que fica disponível</a:t>
            </a:r>
            <a:br>
              <a:rPr lang="pt-BR" b="1" dirty="0"/>
            </a:br>
            <a:r>
              <a:rPr lang="pt-BR" b="1" dirty="0"/>
              <a:t>no andar térreo em frente ao elevador.</a:t>
            </a:r>
          </a:p>
          <a:p>
            <a:endParaRPr lang="pt-BR" b="1" dirty="0"/>
          </a:p>
          <a:p>
            <a:r>
              <a:rPr lang="pt-BR" b="1" dirty="0"/>
              <a:t>Regras do ambiente:</a:t>
            </a:r>
          </a:p>
          <a:p>
            <a:endParaRPr lang="pt-BR" b="1" dirty="0"/>
          </a:p>
        </p:txBody>
      </p:sp>
      <p:pic>
        <p:nvPicPr>
          <p:cNvPr id="3" name="Imagem 2" descr="Proibido png | PNGWing">
            <a:extLst>
              <a:ext uri="{FF2B5EF4-FFF2-40B4-BE49-F238E27FC236}">
                <a16:creationId xmlns:a16="http://schemas.microsoft.com/office/drawing/2014/main" id="{C3638FC3-4365-D578-38C3-C1E9BAA5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" r="382" b="764"/>
          <a:stretch>
            <a:fillRect/>
          </a:stretch>
        </p:blipFill>
        <p:spPr bwMode="auto">
          <a:xfrm>
            <a:off x="3504294" y="5686311"/>
            <a:ext cx="1012069" cy="1012069"/>
          </a:xfrm>
          <a:custGeom>
            <a:avLst/>
            <a:gdLst>
              <a:gd name="connsiteX0" fmla="*/ 961789 w 1923578"/>
              <a:gd name="connsiteY0" fmla="*/ 0 h 1923578"/>
              <a:gd name="connsiteX1" fmla="*/ 1923578 w 1923578"/>
              <a:gd name="connsiteY1" fmla="*/ 961789 h 1923578"/>
              <a:gd name="connsiteX2" fmla="*/ 961789 w 1923578"/>
              <a:gd name="connsiteY2" fmla="*/ 1923578 h 1923578"/>
              <a:gd name="connsiteX3" fmla="*/ 0 w 1923578"/>
              <a:gd name="connsiteY3" fmla="*/ 961789 h 1923578"/>
              <a:gd name="connsiteX4" fmla="*/ 961789 w 1923578"/>
              <a:gd name="connsiteY4" fmla="*/ 0 h 192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3578" h="1923578">
                <a:moveTo>
                  <a:pt x="961789" y="0"/>
                </a:moveTo>
                <a:cubicBezTo>
                  <a:pt x="1492970" y="0"/>
                  <a:pt x="1923578" y="430608"/>
                  <a:pt x="1923578" y="961789"/>
                </a:cubicBezTo>
                <a:cubicBezTo>
                  <a:pt x="1923578" y="1492970"/>
                  <a:pt x="1492970" y="1923578"/>
                  <a:pt x="961789" y="1923578"/>
                </a:cubicBezTo>
                <a:cubicBezTo>
                  <a:pt x="430608" y="1923578"/>
                  <a:pt x="0" y="1492970"/>
                  <a:pt x="0" y="961789"/>
                </a:cubicBezTo>
                <a:cubicBezTo>
                  <a:pt x="0" y="430608"/>
                  <a:pt x="430608" y="0"/>
                  <a:pt x="9617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D55805F-CB9E-D140-1607-1843EEB7A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363" r="2693" b="2363"/>
          <a:stretch>
            <a:fillRect/>
          </a:stretch>
        </p:blipFill>
        <p:spPr>
          <a:xfrm>
            <a:off x="5776193" y="5686312"/>
            <a:ext cx="1012068" cy="1012068"/>
          </a:xfrm>
          <a:custGeom>
            <a:avLst/>
            <a:gdLst>
              <a:gd name="connsiteX0" fmla="*/ 1951349 w 3902698"/>
              <a:gd name="connsiteY0" fmla="*/ 0 h 3902698"/>
              <a:gd name="connsiteX1" fmla="*/ 3902698 w 3902698"/>
              <a:gd name="connsiteY1" fmla="*/ 1951349 h 3902698"/>
              <a:gd name="connsiteX2" fmla="*/ 1951349 w 3902698"/>
              <a:gd name="connsiteY2" fmla="*/ 3902698 h 3902698"/>
              <a:gd name="connsiteX3" fmla="*/ 0 w 3902698"/>
              <a:gd name="connsiteY3" fmla="*/ 1951349 h 3902698"/>
              <a:gd name="connsiteX4" fmla="*/ 1951349 w 3902698"/>
              <a:gd name="connsiteY4" fmla="*/ 0 h 390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698" h="3902698">
                <a:moveTo>
                  <a:pt x="1951349" y="0"/>
                </a:moveTo>
                <a:cubicBezTo>
                  <a:pt x="3029049" y="0"/>
                  <a:pt x="3902698" y="873649"/>
                  <a:pt x="3902698" y="1951349"/>
                </a:cubicBezTo>
                <a:cubicBezTo>
                  <a:pt x="3902698" y="3029049"/>
                  <a:pt x="3029049" y="3902698"/>
                  <a:pt x="1951349" y="3902698"/>
                </a:cubicBezTo>
                <a:cubicBezTo>
                  <a:pt x="873649" y="3902698"/>
                  <a:pt x="0" y="3029049"/>
                  <a:pt x="0" y="1951349"/>
                </a:cubicBezTo>
                <a:cubicBezTo>
                  <a:pt x="0" y="873649"/>
                  <a:pt x="873649" y="0"/>
                  <a:pt x="1951349" y="0"/>
                </a:cubicBezTo>
                <a:close/>
              </a:path>
            </a:pathLst>
          </a:custGeom>
        </p:spPr>
      </p:pic>
      <p:pic>
        <p:nvPicPr>
          <p:cNvPr id="5" name="Imagem 4" descr="Crianças, Andar, Proibido, Sinal, Sinal de trânsito, Sinal de estrada,  Sinal de estrada, Proibido, Não permitido, png | PNGWing">
            <a:extLst>
              <a:ext uri="{FF2B5EF4-FFF2-40B4-BE49-F238E27FC236}">
                <a16:creationId xmlns:a16="http://schemas.microsoft.com/office/drawing/2014/main" id="{786B224C-259D-0461-70A3-6200ABD5E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" t="2598" r="2598" b="2598"/>
          <a:stretch>
            <a:fillRect/>
          </a:stretch>
        </p:blipFill>
        <p:spPr bwMode="auto">
          <a:xfrm>
            <a:off x="6909647" y="5686312"/>
            <a:ext cx="1012069" cy="1012069"/>
          </a:xfrm>
          <a:custGeom>
            <a:avLst/>
            <a:gdLst>
              <a:gd name="connsiteX0" fmla="*/ 1762813 w 3525626"/>
              <a:gd name="connsiteY0" fmla="*/ 0 h 3525626"/>
              <a:gd name="connsiteX1" fmla="*/ 3525626 w 3525626"/>
              <a:gd name="connsiteY1" fmla="*/ 1762813 h 3525626"/>
              <a:gd name="connsiteX2" fmla="*/ 1762813 w 3525626"/>
              <a:gd name="connsiteY2" fmla="*/ 3525626 h 3525626"/>
              <a:gd name="connsiteX3" fmla="*/ 0 w 3525626"/>
              <a:gd name="connsiteY3" fmla="*/ 1762813 h 3525626"/>
              <a:gd name="connsiteX4" fmla="*/ 1762813 w 3525626"/>
              <a:gd name="connsiteY4" fmla="*/ 0 h 3525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5626" h="3525626">
                <a:moveTo>
                  <a:pt x="1762813" y="0"/>
                </a:moveTo>
                <a:cubicBezTo>
                  <a:pt x="2736388" y="0"/>
                  <a:pt x="3525626" y="789238"/>
                  <a:pt x="3525626" y="1762813"/>
                </a:cubicBezTo>
                <a:cubicBezTo>
                  <a:pt x="3525626" y="2736388"/>
                  <a:pt x="2736388" y="3525626"/>
                  <a:pt x="1762813" y="3525626"/>
                </a:cubicBezTo>
                <a:cubicBezTo>
                  <a:pt x="789238" y="3525626"/>
                  <a:pt x="0" y="2736388"/>
                  <a:pt x="0" y="1762813"/>
                </a:cubicBezTo>
                <a:cubicBezTo>
                  <a:pt x="0" y="789238"/>
                  <a:pt x="789238" y="0"/>
                  <a:pt x="176281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No hay vasos de plástico de un solo uso señal de prohibición roja decir no  a la contaminación por plástico salvar la tierra cero residuos | Vector  Premium">
            <a:extLst>
              <a:ext uri="{FF2B5EF4-FFF2-40B4-BE49-F238E27FC236}">
                <a16:creationId xmlns:a16="http://schemas.microsoft.com/office/drawing/2014/main" id="{45DF2AE9-2AE3-452F-D42A-29B52FE5A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15839" r="15671" b="15839"/>
          <a:stretch>
            <a:fillRect/>
          </a:stretch>
        </p:blipFill>
        <p:spPr bwMode="auto">
          <a:xfrm>
            <a:off x="4637749" y="5686314"/>
            <a:ext cx="1017058" cy="1012068"/>
          </a:xfrm>
          <a:custGeom>
            <a:avLst/>
            <a:gdLst>
              <a:gd name="connsiteX0" fmla="*/ 1139163 w 2278326"/>
              <a:gd name="connsiteY0" fmla="*/ 0 h 2267148"/>
              <a:gd name="connsiteX1" fmla="*/ 2278326 w 2278326"/>
              <a:gd name="connsiteY1" fmla="*/ 1133574 h 2267148"/>
              <a:gd name="connsiteX2" fmla="*/ 1139163 w 2278326"/>
              <a:gd name="connsiteY2" fmla="*/ 2267148 h 2267148"/>
              <a:gd name="connsiteX3" fmla="*/ 0 w 2278326"/>
              <a:gd name="connsiteY3" fmla="*/ 1133574 h 2267148"/>
              <a:gd name="connsiteX4" fmla="*/ 1139163 w 2278326"/>
              <a:gd name="connsiteY4" fmla="*/ 0 h 226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8326" h="2267148">
                <a:moveTo>
                  <a:pt x="1139163" y="0"/>
                </a:moveTo>
                <a:cubicBezTo>
                  <a:pt x="1768305" y="0"/>
                  <a:pt x="2278326" y="507518"/>
                  <a:pt x="2278326" y="1133574"/>
                </a:cubicBezTo>
                <a:cubicBezTo>
                  <a:pt x="2278326" y="1759630"/>
                  <a:pt x="1768305" y="2267148"/>
                  <a:pt x="1139163" y="2267148"/>
                </a:cubicBezTo>
                <a:cubicBezTo>
                  <a:pt x="510021" y="2267148"/>
                  <a:pt x="0" y="1759630"/>
                  <a:pt x="0" y="1133574"/>
                </a:cubicBezTo>
                <a:cubicBezTo>
                  <a:pt x="0" y="507518"/>
                  <a:pt x="510021" y="0"/>
                  <a:pt x="11391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89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2" y="408643"/>
            <a:ext cx="9110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Elementos de Avaliação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711548" y="5686319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700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defRPr>
            </a:lvl1pPr>
          </a:lstStyle>
          <a:p>
            <a:r>
              <a:rPr lang="pt-BR" dirty="0"/>
              <a:t>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7C45A5-8194-F85F-A045-57EEAD7252D7}"/>
              </a:ext>
            </a:extLst>
          </p:cNvPr>
          <p:cNvSpPr/>
          <p:nvPr/>
        </p:nvSpPr>
        <p:spPr>
          <a:xfrm>
            <a:off x="1104180" y="1286265"/>
            <a:ext cx="9773729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[1]</a:t>
            </a:r>
          </a:p>
          <a:p>
            <a:pPr algn="ctr"/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Através de atividades desenvolvidas no ambiente de ensino ou proposta a ser realizada em domicílio de forma individual ou em grupo.</a:t>
            </a:r>
          </a:p>
          <a:p>
            <a:pPr algn="ctr"/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[2]</a:t>
            </a:r>
          </a:p>
          <a:p>
            <a:pPr algn="ctr"/>
            <a:r>
              <a:rPr lang="pt-B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Frequência conta ponto pois para aprovação você deverá ter no mínimo 75% de presença ao longo do curso.</a:t>
            </a:r>
            <a:br>
              <a:rPr lang="pt-BR" sz="1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(No máximo de 01 falta)</a:t>
            </a:r>
          </a:p>
          <a:p>
            <a:pPr algn="ctr"/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[3]</a:t>
            </a:r>
          </a:p>
          <a:p>
            <a:pPr algn="ctr"/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Recuperação paralela é aplicada como uma forma de reforçar o conhecimento do aluno melhorando pontos observados pelo instrutor.</a:t>
            </a:r>
          </a:p>
          <a:p>
            <a:pPr algn="ctr"/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[4]</a:t>
            </a:r>
          </a:p>
          <a:p>
            <a:pPr algn="ctr"/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 nota no Senac recebe o termo de menções que são informadas no final do curso que são: “A” Atende, “AP” Atende parcialmente ou “NA” Não Atende.</a:t>
            </a:r>
          </a:p>
          <a:p>
            <a:pPr algn="ctr"/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[5]</a:t>
            </a:r>
          </a:p>
          <a:p>
            <a:pPr algn="ctr"/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 emissão do certificado para o aluno aprovado é realizada após 10 dias úteis e sua emissão é disponibilidade do link </a:t>
            </a:r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https://www.rj.senac.br/sobre-o-</a:t>
            </a:r>
            <a:r>
              <a:rPr lang="pt-BR" sz="1400" dirty="0" err="1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senac</a:t>
            </a:r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/</a:t>
            </a:r>
            <a:r>
              <a:rPr lang="pt-BR" sz="1400" dirty="0" err="1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emissao</a:t>
            </a:r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-de-certificados</a:t>
            </a:r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ctr"/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[6]</a:t>
            </a:r>
          </a:p>
          <a:p>
            <a:pPr algn="ctr"/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Ao término do curso, o Campus Digital ficará ativo aproximadamente 180 dias. Após este período o sistema bloqueará o acesso do usuário à plataforma.</a:t>
            </a:r>
          </a:p>
        </p:txBody>
      </p:sp>
    </p:spTree>
    <p:extLst>
      <p:ext uri="{BB962C8B-B14F-4D97-AF65-F5344CB8AC3E}">
        <p14:creationId xmlns:p14="http://schemas.microsoft.com/office/powerpoint/2010/main" val="402730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2" y="408643"/>
            <a:ext cx="9110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Material das aulas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711548" y="5686319"/>
            <a:ext cx="15537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7000">
                <a:solidFill>
                  <a:srgbClr val="D8EBCD"/>
                </a:solidFill>
                <a:latin typeface="Tw Cen MT Condensed Extra Bold" panose="020B0803020202020204" pitchFamily="34" charset="0"/>
                <a:ea typeface="Segoe UI Black" panose="020B0A02040204020203" pitchFamily="34" charset="0"/>
              </a:defRPr>
            </a:lvl1pPr>
          </a:lstStyle>
          <a:p>
            <a:r>
              <a:rPr lang="pt-BR" dirty="0"/>
              <a:t>9</a:t>
            </a:r>
          </a:p>
        </p:txBody>
      </p:sp>
      <p:sp>
        <p:nvSpPr>
          <p:cNvPr id="3" name="CaixaDeTexto 25">
            <a:extLst>
              <a:ext uri="{FF2B5EF4-FFF2-40B4-BE49-F238E27FC236}">
                <a16:creationId xmlns:a16="http://schemas.microsoft.com/office/drawing/2014/main" id="{9B5E05CE-2B85-A5F2-501B-79DC88FCA7DD}"/>
              </a:ext>
            </a:extLst>
          </p:cNvPr>
          <p:cNvSpPr txBox="1"/>
          <p:nvPr/>
        </p:nvSpPr>
        <p:spPr>
          <a:xfrm>
            <a:off x="1066800" y="1275044"/>
            <a:ext cx="9966385" cy="528609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defPPr>
              <a:defRPr lang="pt-BR"/>
            </a:defPPr>
            <a:lvl1pPr indent="0" algn="just">
              <a:buFont typeface="Arial" panose="020B0604020202020204" pitchFamily="34" charset="0"/>
              <a:buNone/>
              <a:defRPr sz="17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indent="0">
              <a:defRPr sz="1100">
                <a:solidFill>
                  <a:schemeClr val="dk1"/>
                </a:solidFill>
              </a:defRPr>
            </a:lvl2pPr>
            <a:lvl3pPr indent="0">
              <a:defRPr sz="1100">
                <a:solidFill>
                  <a:schemeClr val="dk1"/>
                </a:solidFill>
              </a:defRPr>
            </a:lvl3pPr>
            <a:lvl4pPr indent="0">
              <a:defRPr sz="1100">
                <a:solidFill>
                  <a:schemeClr val="dk1"/>
                </a:solidFill>
              </a:defRPr>
            </a:lvl4pPr>
            <a:lvl5pPr indent="0">
              <a:defRPr sz="1100">
                <a:solidFill>
                  <a:schemeClr val="dk1"/>
                </a:solidFill>
              </a:defRPr>
            </a:lvl5pPr>
            <a:lvl6pPr indent="0">
              <a:defRPr sz="1100">
                <a:solidFill>
                  <a:schemeClr val="dk1"/>
                </a:solidFill>
              </a:defRPr>
            </a:lvl6pPr>
            <a:lvl7pPr indent="0">
              <a:defRPr sz="1100">
                <a:solidFill>
                  <a:schemeClr val="dk1"/>
                </a:solidFill>
              </a:defRPr>
            </a:lvl7pPr>
            <a:lvl8pPr indent="0">
              <a:defRPr sz="1100">
                <a:solidFill>
                  <a:schemeClr val="dk1"/>
                </a:solidFill>
              </a:defRPr>
            </a:lvl8pPr>
            <a:lvl9pPr indent="0">
              <a:defRPr sz="1100">
                <a:solidFill>
                  <a:schemeClr val="dk1"/>
                </a:solidFill>
              </a:defRPr>
            </a:lvl9pPr>
          </a:lstStyle>
          <a:p>
            <a:pPr algn="ctr"/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publicação do material didático </a:t>
            </a:r>
            <a:r>
              <a:rPr lang="pt-BR" b="0" dirty="0">
                <a:solidFill>
                  <a:schemeClr val="tx1"/>
                </a:solidFill>
              </a:rPr>
              <a:t>será</a:t>
            </a:r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plataforma do  Campus Digital Senac, ou em caso especial no </a:t>
            </a:r>
            <a:r>
              <a:rPr lang="pt-BR" b="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onde constarão o conteúdo a ser abordado nas aulas além de arquivos para </a:t>
            </a:r>
            <a:r>
              <a:rPr lang="pt-BR" b="0" dirty="0">
                <a:solidFill>
                  <a:schemeClr val="tx1"/>
                </a:solidFill>
              </a:rPr>
              <a:t>utilização em sala de aula</a:t>
            </a:r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ctr"/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 abaixo</a:t>
            </a:r>
            <a:endParaRPr lang="pt-BR" b="0" dirty="0">
              <a:solidFill>
                <a:schemeClr val="tx1"/>
              </a:solidFill>
            </a:endParaRPr>
          </a:p>
          <a:p>
            <a:pPr algn="ctr"/>
            <a:endParaRPr lang="pt-BR" b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Campus Digital Senac: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https://primeiroacesso.rj.senac.br/</a:t>
            </a:r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b="0" dirty="0">
              <a:solidFill>
                <a:schemeClr val="tx1"/>
              </a:solidFill>
            </a:endParaRPr>
          </a:p>
          <a:p>
            <a:pPr algn="ctr"/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Ressalto que no site </a:t>
            </a:r>
            <a:r>
              <a:rPr lang="pt-BR" b="0" dirty="0">
                <a:solidFill>
                  <a:schemeClr val="tx1"/>
                </a:solidFill>
              </a:rPr>
              <a:t>da </a:t>
            </a:r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Microsoft, o fabricante disponibiliza o contém de documentação atualizada do </a:t>
            </a:r>
            <a:r>
              <a:rPr lang="pt-BR" b="0" dirty="0">
                <a:solidFill>
                  <a:schemeClr val="tx1"/>
                </a:solidFill>
              </a:rPr>
              <a:t>Excel</a:t>
            </a:r>
            <a:r>
              <a:rPr lang="pt-BR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qual fornecerá conhecimento relevante para seu estudo.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https://support.microsoft.com/pt-br/excel?ui=pt-br&amp;rs=pt-br&amp;ad=br</a:t>
            </a:r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b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6B2C35-7929-8C67-4775-BABCF3D115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499"/>
          <a:stretch/>
        </p:blipFill>
        <p:spPr>
          <a:xfrm>
            <a:off x="1557692" y="5459142"/>
            <a:ext cx="1787867" cy="5080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A1534FE-A079-EBEA-4B68-A21A23DF3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678" y="5434688"/>
            <a:ext cx="1956848" cy="68355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5040636-9524-E5C9-B3F6-AFFF8172D48F}"/>
              </a:ext>
            </a:extLst>
          </p:cNvPr>
          <p:cNvSpPr txBox="1"/>
          <p:nvPr/>
        </p:nvSpPr>
        <p:spPr>
          <a:xfrm>
            <a:off x="7961678" y="6192377"/>
            <a:ext cx="195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https://poe.com/login</a:t>
            </a:r>
          </a:p>
        </p:txBody>
      </p:sp>
      <p:pic>
        <p:nvPicPr>
          <p:cNvPr id="7" name="Picture 2" descr="ChatGPT Logo and symbol, meaning, history, sign.">
            <a:extLst>
              <a:ext uri="{FF2B5EF4-FFF2-40B4-BE49-F238E27FC236}">
                <a16:creationId xmlns:a16="http://schemas.microsoft.com/office/drawing/2014/main" id="{629A7FAA-7B25-5238-36C2-C9DE21B1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402" y="5320918"/>
            <a:ext cx="1619729" cy="91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ow to write effective Google Gemini prompts (with examples) | Cobry">
            <a:extLst>
              <a:ext uri="{FF2B5EF4-FFF2-40B4-BE49-F238E27FC236}">
                <a16:creationId xmlns:a16="http://schemas.microsoft.com/office/drawing/2014/main" id="{A97524BF-AE93-6CD0-CBDA-01D249B25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8" t="3258" r="16734" b="6765"/>
          <a:stretch/>
        </p:blipFill>
        <p:spPr bwMode="auto">
          <a:xfrm>
            <a:off x="5934974" y="5282806"/>
            <a:ext cx="1541861" cy="105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25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Portal SENAC para o Aluno</a:t>
            </a:r>
          </a:p>
        </p:txBody>
      </p:sp>
      <p:sp>
        <p:nvSpPr>
          <p:cNvPr id="16" name="CaixaDeTexto 17"/>
          <p:cNvSpPr txBox="1"/>
          <p:nvPr/>
        </p:nvSpPr>
        <p:spPr>
          <a:xfrm>
            <a:off x="627891" y="2172102"/>
            <a:ext cx="3232571" cy="334775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Requerimentos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Portal de comunicação do estudante com as áreas Educacional e Administrativas do SENAC.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Consulte no link abaixo: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https://www.rj.senac.br/requerimentos-web/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1FE008-7BA8-BEF0-FE61-56452AE1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383" y="1476746"/>
            <a:ext cx="6903122" cy="4286896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7D92D858-AE09-1438-8260-D430E9BEB2B2}"/>
              </a:ext>
            </a:extLst>
          </p:cNvPr>
          <p:cNvGrpSpPr/>
          <p:nvPr/>
        </p:nvGrpSpPr>
        <p:grpSpPr>
          <a:xfrm>
            <a:off x="10621808" y="5657911"/>
            <a:ext cx="1598351" cy="1363700"/>
            <a:chOff x="10202186" y="4924511"/>
            <a:chExt cx="1598351" cy="1631216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77D29FC5-5A4E-FC2B-7727-EE75825E447F}"/>
                </a:ext>
              </a:extLst>
            </p:cNvPr>
            <p:cNvSpPr txBox="1"/>
            <p:nvPr/>
          </p:nvSpPr>
          <p:spPr>
            <a:xfrm>
              <a:off x="10899929" y="4924511"/>
              <a:ext cx="90060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l"/>
              <a:r>
                <a:rPr lang="pt-BR" dirty="0"/>
                <a:t>0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A7957A39-D931-9417-984F-657ACCF85FA0}"/>
                </a:ext>
              </a:extLst>
            </p:cNvPr>
            <p:cNvSpPr txBox="1"/>
            <p:nvPr/>
          </p:nvSpPr>
          <p:spPr>
            <a:xfrm>
              <a:off x="10202186" y="4933626"/>
              <a:ext cx="9666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r"/>
              <a:r>
                <a:rPr lang="pt-BR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641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Portal SENAC para o Aluno</a:t>
            </a:r>
          </a:p>
        </p:txBody>
      </p:sp>
      <p:sp>
        <p:nvSpPr>
          <p:cNvPr id="16" name="CaixaDeTexto 17"/>
          <p:cNvSpPr txBox="1"/>
          <p:nvPr/>
        </p:nvSpPr>
        <p:spPr>
          <a:xfrm>
            <a:off x="627890" y="2172102"/>
            <a:ext cx="4772245" cy="290089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Senac Interliga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Portal direcionado à carreira do estudante e na geração de novas oportunidades no mercado.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Consulte no link abaixo: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	https://www.senacinterliga.com.br/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BBFC26-78A6-A3DE-9121-41212E45A3BE}"/>
              </a:ext>
            </a:extLst>
          </p:cNvPr>
          <p:cNvGrpSpPr/>
          <p:nvPr/>
        </p:nvGrpSpPr>
        <p:grpSpPr>
          <a:xfrm>
            <a:off x="10621808" y="5657911"/>
            <a:ext cx="1598351" cy="1169551"/>
            <a:chOff x="10202186" y="4924511"/>
            <a:chExt cx="1598351" cy="1398981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3BC9A9F1-7FEC-FF51-8679-75F2A25C76BE}"/>
                </a:ext>
              </a:extLst>
            </p:cNvPr>
            <p:cNvSpPr txBox="1"/>
            <p:nvPr/>
          </p:nvSpPr>
          <p:spPr>
            <a:xfrm>
              <a:off x="10899929" y="4924511"/>
              <a:ext cx="900608" cy="139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l"/>
              <a:r>
                <a:rPr lang="pt-BR" dirty="0"/>
                <a:t>1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CD0E322-BEDB-6224-7D3B-6F6E9F8747F7}"/>
                </a:ext>
              </a:extLst>
            </p:cNvPr>
            <p:cNvSpPr txBox="1"/>
            <p:nvPr/>
          </p:nvSpPr>
          <p:spPr>
            <a:xfrm>
              <a:off x="10202186" y="4933626"/>
              <a:ext cx="9666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r"/>
              <a:r>
                <a:rPr lang="pt-BR" dirty="0"/>
                <a:t>1</a:t>
              </a:r>
            </a:p>
          </p:txBody>
        </p:sp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7E68356D-68FE-838D-01F0-F66BADAD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360" y="1849746"/>
            <a:ext cx="6494006" cy="332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56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Portal SENAC para o Aluno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E7CA70-2F9F-AC7C-74EC-A3D5A8029835}"/>
              </a:ext>
            </a:extLst>
          </p:cNvPr>
          <p:cNvGrpSpPr/>
          <p:nvPr/>
        </p:nvGrpSpPr>
        <p:grpSpPr>
          <a:xfrm>
            <a:off x="10621808" y="5657911"/>
            <a:ext cx="1598351" cy="1169551"/>
            <a:chOff x="10202186" y="4924511"/>
            <a:chExt cx="1598351" cy="1398981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4470FF3F-2980-15E4-D148-6BC3F8E49CD6}"/>
                </a:ext>
              </a:extLst>
            </p:cNvPr>
            <p:cNvSpPr txBox="1"/>
            <p:nvPr/>
          </p:nvSpPr>
          <p:spPr>
            <a:xfrm>
              <a:off x="10899929" y="4924511"/>
              <a:ext cx="900608" cy="139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l"/>
              <a:r>
                <a:rPr lang="pt-BR" dirty="0"/>
                <a:t>2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D78A171D-7EE8-3BBE-CB08-D73268CB1C3A}"/>
                </a:ext>
              </a:extLst>
            </p:cNvPr>
            <p:cNvSpPr txBox="1"/>
            <p:nvPr/>
          </p:nvSpPr>
          <p:spPr>
            <a:xfrm>
              <a:off x="10202186" y="4933626"/>
              <a:ext cx="9666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r"/>
              <a:r>
                <a:rPr lang="pt-BR" dirty="0"/>
                <a:t>1</a:t>
              </a:r>
            </a:p>
          </p:txBody>
        </p: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083B25AA-4F6B-7615-210B-758703741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2" y="1256933"/>
            <a:ext cx="2455984" cy="1743527"/>
          </a:xfrm>
          <a:prstGeom prst="rect">
            <a:avLst/>
          </a:prstGeom>
        </p:spPr>
      </p:pic>
      <p:sp>
        <p:nvSpPr>
          <p:cNvPr id="3" name="CaixaDeTexto 17">
            <a:extLst>
              <a:ext uri="{FF2B5EF4-FFF2-40B4-BE49-F238E27FC236}">
                <a16:creationId xmlns:a16="http://schemas.microsoft.com/office/drawing/2014/main" id="{CA747ADF-9AEE-D967-685E-B5B9FB902DCE}"/>
              </a:ext>
            </a:extLst>
          </p:cNvPr>
          <p:cNvSpPr txBox="1"/>
          <p:nvPr/>
        </p:nvSpPr>
        <p:spPr>
          <a:xfrm>
            <a:off x="2611226" y="1247552"/>
            <a:ext cx="6110263" cy="14367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/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Campus Digital</a:t>
            </a:r>
            <a:endParaRPr lang="pt-BR" sz="140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eaLnBrk="1" latinLnBrk="0" hangingPunct="1"/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Plataforma de acesso que reunirá todo o material necessário para as aulas.</a:t>
            </a:r>
          </a:p>
          <a:p>
            <a:pPr marL="0" indent="0" algn="l" rtl="0" eaLnBrk="1" latinLnBrk="0" hangingPunct="1"/>
            <a:b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1-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Inicie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navegador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Microsoft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EDGE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insira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endereço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seguir</a:t>
            </a:r>
            <a:endParaRPr lang="pt-BR" sz="140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eaLnBrk="1" latinLnBrk="0" hangingPunct="1"/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  <a:hlinkClick r:id="rId3"/>
              </a:rPr>
              <a:t>https://primeiroacesso.rj.senac.br/</a:t>
            </a:r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46860EE-E2FF-D3C3-C40C-CB262ED03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038" y="2934520"/>
            <a:ext cx="2340058" cy="3060566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D0FF4BD-4B3A-9AFC-AE45-1EF619E7C18E}"/>
              </a:ext>
            </a:extLst>
          </p:cNvPr>
          <p:cNvGrpSpPr/>
          <p:nvPr/>
        </p:nvGrpSpPr>
        <p:grpSpPr>
          <a:xfrm>
            <a:off x="7888891" y="2935174"/>
            <a:ext cx="4173842" cy="3889931"/>
            <a:chOff x="7870474" y="2761307"/>
            <a:chExt cx="4173842" cy="3889931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8B54785F-1303-3FA8-C770-CA51A694A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1381" y="3132270"/>
              <a:ext cx="4172935" cy="3518968"/>
            </a:xfrm>
            <a:prstGeom prst="rect">
              <a:avLst/>
            </a:prstGeom>
          </p:spPr>
        </p:pic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A2BF904B-361A-1807-31A9-4BC91D825ED5}"/>
                </a:ext>
              </a:extLst>
            </p:cNvPr>
            <p:cNvSpPr/>
            <p:nvPr/>
          </p:nvSpPr>
          <p:spPr>
            <a:xfrm>
              <a:off x="8422961" y="4308049"/>
              <a:ext cx="1390342" cy="1477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21CF6A4-57C1-5EF3-9EA6-788889F47D97}"/>
                </a:ext>
              </a:extLst>
            </p:cNvPr>
            <p:cNvSpPr/>
            <p:nvPr/>
          </p:nvSpPr>
          <p:spPr>
            <a:xfrm>
              <a:off x="8567506" y="5230249"/>
              <a:ext cx="2750418" cy="1939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>
                  <a:solidFill>
                    <a:schemeClr val="tx1"/>
                  </a:solidFill>
                </a:rPr>
                <a:t>Nome@5primeiros dígitos do CPF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D8AE1D4C-E1BE-A228-439F-92DC80ED805A}"/>
                </a:ext>
              </a:extLst>
            </p:cNvPr>
            <p:cNvSpPr/>
            <p:nvPr/>
          </p:nvSpPr>
          <p:spPr>
            <a:xfrm>
              <a:off x="8567506" y="5035685"/>
              <a:ext cx="2839561" cy="1939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err="1">
                  <a:solidFill>
                    <a:schemeClr val="tx1"/>
                  </a:solidFill>
                </a:rPr>
                <a:t>nome.sobrenome@aluno.senac.rio</a:t>
              </a:r>
              <a:endParaRPr lang="pt-B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86229E35-FFFD-B1A0-605D-40D035864159}"/>
                </a:ext>
              </a:extLst>
            </p:cNvPr>
            <p:cNvSpPr/>
            <p:nvPr/>
          </p:nvSpPr>
          <p:spPr>
            <a:xfrm>
              <a:off x="7870474" y="2761307"/>
              <a:ext cx="4172934" cy="3958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TIRAR FOTO DESSA CREDENCIAL</a:t>
              </a:r>
            </a:p>
          </p:txBody>
        </p:sp>
      </p:grpSp>
      <p:pic>
        <p:nvPicPr>
          <p:cNvPr id="20" name="Imagem 19">
            <a:extLst>
              <a:ext uri="{FF2B5EF4-FFF2-40B4-BE49-F238E27FC236}">
                <a16:creationId xmlns:a16="http://schemas.microsoft.com/office/drawing/2014/main" id="{4C25DDBE-0F35-62CE-E25D-BA6874B32C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7428" y="2934520"/>
            <a:ext cx="2068720" cy="1518387"/>
          </a:xfrm>
          <a:prstGeom prst="rect">
            <a:avLst/>
          </a:prstGeom>
        </p:spPr>
      </p:pic>
      <p:sp>
        <p:nvSpPr>
          <p:cNvPr id="21" name="CaixaDeTexto 17">
            <a:extLst>
              <a:ext uri="{FF2B5EF4-FFF2-40B4-BE49-F238E27FC236}">
                <a16:creationId xmlns:a16="http://schemas.microsoft.com/office/drawing/2014/main" id="{EE1D9D5F-E283-B477-C569-FB1A2A59D6E2}"/>
              </a:ext>
            </a:extLst>
          </p:cNvPr>
          <p:cNvSpPr txBox="1"/>
          <p:nvPr/>
        </p:nvSpPr>
        <p:spPr>
          <a:xfrm>
            <a:off x="147685" y="3510662"/>
            <a:ext cx="3072667" cy="215486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buNone/>
            </a:pP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2- Se você NÃO TIVER uma conta no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portal,</a:t>
            </a:r>
            <a: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selecione a opção Primeiro Acesso e siga as instruções exibidas nas telas.</a:t>
            </a:r>
            <a:endParaRPr lang="pt-BR" sz="140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eaLnBrk="1" latinLnBrk="0" hangingPunct="1">
              <a:buNone/>
            </a:pPr>
            <a:br>
              <a:rPr lang="pt-BR" sz="14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pt-BR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 você JÁ TIVER uma conta no portal, clique em Entrar no Campus Digital e informe seu login e senha.</a:t>
            </a:r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2" name="Picture 2" descr="Transfer Vinílico Flork Meme - Desespero - 01 unidade - Rizzo Embalage -  Rizzo Embalagens">
            <a:extLst>
              <a:ext uri="{FF2B5EF4-FFF2-40B4-BE49-F238E27FC236}">
                <a16:creationId xmlns:a16="http://schemas.microsoft.com/office/drawing/2014/main" id="{E3C63322-094E-7149-EE3D-59A445642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358" y="1765079"/>
            <a:ext cx="1169441" cy="116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795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Portal SENAC para o Aluno</a:t>
            </a:r>
          </a:p>
        </p:txBody>
      </p:sp>
      <p:sp>
        <p:nvSpPr>
          <p:cNvPr id="16" name="CaixaDeTexto 17"/>
          <p:cNvSpPr txBox="1"/>
          <p:nvPr/>
        </p:nvSpPr>
        <p:spPr>
          <a:xfrm>
            <a:off x="350627" y="1527142"/>
            <a:ext cx="10070082" cy="403689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Contato Equipe Educacional Senac Botafogo</a:t>
            </a:r>
          </a:p>
          <a:p>
            <a:pPr algn="ctr"/>
            <a:endParaRPr lang="pt-BR" sz="1600" b="1" i="0" dirty="0">
              <a:solidFill>
                <a:srgbClr val="5F6368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600" b="1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Unidade Botafogo</a:t>
            </a:r>
          </a:p>
          <a:p>
            <a:pPr algn="ctr"/>
            <a:r>
              <a:rPr lang="pt-BR" sz="1600" b="0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2018-9026</a:t>
            </a:r>
          </a:p>
          <a:p>
            <a:pPr algn="ctr"/>
            <a:endParaRPr lang="pt-BR" sz="1600" b="0" i="0" dirty="0">
              <a:solidFill>
                <a:srgbClr val="5F6368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600" b="1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Coordenação Educacional</a:t>
            </a:r>
          </a:p>
          <a:p>
            <a:pPr algn="ctr"/>
            <a:r>
              <a:rPr lang="pt-BR" sz="1600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Sabrina Ramal. 8237</a:t>
            </a:r>
          </a:p>
          <a:p>
            <a:pPr algn="ctr"/>
            <a:r>
              <a:rPr lang="pt-BR" sz="1600" b="0" i="0" u="none" strike="noStrike" dirty="0">
                <a:solidFill>
                  <a:srgbClr val="2962F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sabrina.sousa@rj.senac.br</a:t>
            </a:r>
            <a:r>
              <a:rPr lang="pt-BR" sz="1600" b="0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algn="ctr"/>
            <a:endParaRPr lang="pt-BR" sz="1600" b="0" i="0" dirty="0">
              <a:solidFill>
                <a:srgbClr val="5F6368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1600" b="1" dirty="0">
              <a:solidFill>
                <a:srgbClr val="5F636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600" b="1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Supervisor Técnico</a:t>
            </a:r>
          </a:p>
          <a:p>
            <a:pPr algn="ctr"/>
            <a:r>
              <a:rPr lang="pt-BR" sz="1600" b="0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Rodrigo Martins</a:t>
            </a:r>
            <a:endParaRPr lang="pt-BR" sz="1600" dirty="0">
              <a:solidFill>
                <a:srgbClr val="5F636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600" b="0" i="0" dirty="0">
                <a:solidFill>
                  <a:srgbClr val="5F6368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pt-BR" sz="1600" b="0" i="0" u="none" strike="noStrike" dirty="0">
                <a:solidFill>
                  <a:srgbClr val="2962F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rodrigo.martins@rj.senac.br</a:t>
            </a:r>
          </a:p>
          <a:p>
            <a:pPr algn="ctr"/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E7CA70-2F9F-AC7C-74EC-A3D5A8029835}"/>
              </a:ext>
            </a:extLst>
          </p:cNvPr>
          <p:cNvGrpSpPr/>
          <p:nvPr/>
        </p:nvGrpSpPr>
        <p:grpSpPr>
          <a:xfrm>
            <a:off x="10621808" y="5657911"/>
            <a:ext cx="1598351" cy="1169551"/>
            <a:chOff x="10202186" y="4924511"/>
            <a:chExt cx="1598351" cy="1398981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4470FF3F-2980-15E4-D148-6BC3F8E49CD6}"/>
                </a:ext>
              </a:extLst>
            </p:cNvPr>
            <p:cNvSpPr txBox="1"/>
            <p:nvPr/>
          </p:nvSpPr>
          <p:spPr>
            <a:xfrm>
              <a:off x="10899929" y="4924511"/>
              <a:ext cx="900608" cy="139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l"/>
              <a:r>
                <a:rPr lang="pt-BR" dirty="0"/>
                <a:t>3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D78A171D-7EE8-3BBE-CB08-D73268CB1C3A}"/>
                </a:ext>
              </a:extLst>
            </p:cNvPr>
            <p:cNvSpPr txBox="1"/>
            <p:nvPr/>
          </p:nvSpPr>
          <p:spPr>
            <a:xfrm>
              <a:off x="10202186" y="4933626"/>
              <a:ext cx="9666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r"/>
              <a:r>
                <a:rPr lang="pt-BR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309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Planejamento das aulas</a:t>
            </a:r>
          </a:p>
        </p:txBody>
      </p:sp>
      <p:sp>
        <p:nvSpPr>
          <p:cNvPr id="16" name="CaixaDeTexto 17"/>
          <p:cNvSpPr txBox="1"/>
          <p:nvPr/>
        </p:nvSpPr>
        <p:spPr>
          <a:xfrm>
            <a:off x="627891" y="1222151"/>
            <a:ext cx="9993917" cy="53814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Aula1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Apresentação do layout do software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Modos de exibição, Inserção, edição, exclusão e formatação de células (colunas e linhas) e planilhas. Gerenciamento das guias de planilhas</a:t>
            </a:r>
          </a:p>
          <a:p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Estilos de células.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 02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Formatação de Número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Operadores lógicos e aritméticos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Tipos de referência (relativa, absoluta e mista)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Fórmulas e funções: Conceitos e Aplicação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Funções Matemáticas e Trigonométricas: SOMA e MULT e Funções Data e hora: HOJE E AGORA.</a:t>
            </a:r>
          </a:p>
          <a:p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 03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Formatar como Tabela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Fórmulas e funções: Conceitos e Aplicação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Funções Estatísticas: MÉDIA, MÁXIMO, MÍNIMO, MAIOR, MENOR, CONT.VALORES, CONT.NÚM, CONTAR.VAZIO. </a:t>
            </a:r>
            <a:r>
              <a:rPr lang="pt-BR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CONT.SE, SOMASE e MÉDIASE.</a:t>
            </a:r>
          </a:p>
          <a:p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E7CA70-2F9F-AC7C-74EC-A3D5A8029835}"/>
              </a:ext>
            </a:extLst>
          </p:cNvPr>
          <p:cNvGrpSpPr/>
          <p:nvPr/>
        </p:nvGrpSpPr>
        <p:grpSpPr>
          <a:xfrm>
            <a:off x="10621808" y="5657911"/>
            <a:ext cx="1598351" cy="1169551"/>
            <a:chOff x="10202186" y="4924511"/>
            <a:chExt cx="1598351" cy="1398981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4470FF3F-2980-15E4-D148-6BC3F8E49CD6}"/>
                </a:ext>
              </a:extLst>
            </p:cNvPr>
            <p:cNvSpPr txBox="1"/>
            <p:nvPr/>
          </p:nvSpPr>
          <p:spPr>
            <a:xfrm>
              <a:off x="10899929" y="4924511"/>
              <a:ext cx="900608" cy="139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l"/>
              <a:r>
                <a:rPr lang="pt-BR" dirty="0"/>
                <a:t>4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D78A171D-7EE8-3BBE-CB08-D73268CB1C3A}"/>
                </a:ext>
              </a:extLst>
            </p:cNvPr>
            <p:cNvSpPr txBox="1"/>
            <p:nvPr/>
          </p:nvSpPr>
          <p:spPr>
            <a:xfrm>
              <a:off x="10202186" y="4933626"/>
              <a:ext cx="9666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r"/>
              <a:r>
                <a:rPr lang="pt-BR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5311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1156693" y="408643"/>
            <a:ext cx="806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Planejamento das aulas</a:t>
            </a:r>
          </a:p>
        </p:txBody>
      </p:sp>
      <p:sp>
        <p:nvSpPr>
          <p:cNvPr id="16" name="CaixaDeTexto 17"/>
          <p:cNvSpPr txBox="1"/>
          <p:nvPr/>
        </p:nvSpPr>
        <p:spPr>
          <a:xfrm>
            <a:off x="627891" y="1222152"/>
            <a:ext cx="9993917" cy="443576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 04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Fórmulas e funções: Conceitos e Aplicação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Função Lógica: SE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Remover duplicatas.</a:t>
            </a:r>
          </a:p>
          <a:p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 05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Recursos de imagens e autoformas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Elaboração e gerenciamento de gráficos</a:t>
            </a:r>
          </a:p>
          <a:p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 06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Classificar e filtrar dados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Formatação Condicional Simples.</a:t>
            </a:r>
          </a:p>
          <a:p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Aula 07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Congelamento de painéis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Cabeçalho e rodapé e Configuração</a:t>
            </a:r>
          </a:p>
          <a:p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visualização de impressão de planilhas.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E7CA70-2F9F-AC7C-74EC-A3D5A8029835}"/>
              </a:ext>
            </a:extLst>
          </p:cNvPr>
          <p:cNvGrpSpPr/>
          <p:nvPr/>
        </p:nvGrpSpPr>
        <p:grpSpPr>
          <a:xfrm>
            <a:off x="10621808" y="5657911"/>
            <a:ext cx="1598351" cy="1169551"/>
            <a:chOff x="10202186" y="4924511"/>
            <a:chExt cx="1598351" cy="1398981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4470FF3F-2980-15E4-D148-6BC3F8E49CD6}"/>
                </a:ext>
              </a:extLst>
            </p:cNvPr>
            <p:cNvSpPr txBox="1"/>
            <p:nvPr/>
          </p:nvSpPr>
          <p:spPr>
            <a:xfrm>
              <a:off x="10899929" y="4924511"/>
              <a:ext cx="900608" cy="139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l"/>
              <a:r>
                <a:rPr lang="pt-BR" dirty="0"/>
                <a:t>5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D78A171D-7EE8-3BBE-CB08-D73268CB1C3A}"/>
                </a:ext>
              </a:extLst>
            </p:cNvPr>
            <p:cNvSpPr txBox="1"/>
            <p:nvPr/>
          </p:nvSpPr>
          <p:spPr>
            <a:xfrm>
              <a:off x="10202186" y="4933626"/>
              <a:ext cx="9666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7000">
                  <a:solidFill>
                    <a:srgbClr val="D8EBCD"/>
                  </a:solidFill>
                  <a:latin typeface="Tw Cen MT Condensed Extra Bold" panose="020B0803020202020204" pitchFamily="34" charset="0"/>
                  <a:ea typeface="Segoe UI Black" panose="020B0A02040204020203" pitchFamily="34" charset="0"/>
                </a:defRPr>
              </a:lvl1pPr>
            </a:lstStyle>
            <a:p>
              <a:pPr algn="r"/>
              <a:r>
                <a:rPr lang="pt-BR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1414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2896</TotalTime>
  <Words>1312</Words>
  <Application>Microsoft Office PowerPoint</Application>
  <PresentationFormat>Widescreen</PresentationFormat>
  <Paragraphs>202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Lato</vt:lpstr>
      <vt:lpstr>Segoe UI</vt:lpstr>
      <vt:lpstr>Segoe UI Black</vt:lpstr>
      <vt:lpstr>Segoe UI Semibold</vt:lpstr>
      <vt:lpstr>Tw Cen MT Condensed Extra 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Romulo Sousa</dc:creator>
  <cp:lastModifiedBy>Romulo Sousa</cp:lastModifiedBy>
  <cp:revision>639</cp:revision>
  <dcterms:created xsi:type="dcterms:W3CDTF">2022-01-03T03:01:19Z</dcterms:created>
  <dcterms:modified xsi:type="dcterms:W3CDTF">2025-05-19T17:35:58Z</dcterms:modified>
</cp:coreProperties>
</file>